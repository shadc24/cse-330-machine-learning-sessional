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Economica"/>
      <p:regular r:id="rId11"/>
      <p:bold r:id="rId12"/>
      <p:italic r:id="rId13"/>
      <p:boldItalic r:id="rId14"/>
    </p:embeddedFont>
    <p:embeddedFont>
      <p:font typeface="Open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Economica-regular.fntdata"/><Relationship Id="rId10" Type="http://schemas.openxmlformats.org/officeDocument/2006/relationships/slide" Target="slides/slide5.xml"/><Relationship Id="rId13" Type="http://schemas.openxmlformats.org/officeDocument/2006/relationships/font" Target="fonts/Economica-italic.fntdata"/><Relationship Id="rId12" Type="http://schemas.openxmlformats.org/officeDocument/2006/relationships/font" Target="fonts/Economic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regular.fntdata"/><Relationship Id="rId14" Type="http://schemas.openxmlformats.org/officeDocument/2006/relationships/font" Target="fonts/Economica-boldItalic.fntdata"/><Relationship Id="rId17" Type="http://schemas.openxmlformats.org/officeDocument/2006/relationships/font" Target="fonts/OpenSans-italic.fntdata"/><Relationship Id="rId16"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penSans-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nk.springer.com/article/10.1007/s10916-023-01906-7" TargetMode="External"/><Relationship Id="rId3" Type="http://schemas.openxmlformats.org/officeDocument/2006/relationships/hyperlink" Target="https://www.sciencedirect.com/science/article/pii/S1877050923004234" TargetMode="External"/><Relationship Id="rId4" Type="http://schemas.openxmlformats.org/officeDocument/2006/relationships/hyperlink" Target="https://link.springer.com/article/10.1007/s13369-022-07538-2" TargetMode="External"/><Relationship Id="rId5" Type="http://schemas.openxmlformats.org/officeDocument/2006/relationships/hyperlink" Target="https://link.springer.com/article/10.1007/s00521-021-05983-y?fbclid=IwZXh0bgNhZW0CMTEAAR0o3ecuEtQ2noXuTbLNtiB30E4ceofnjVKaCvXvRlK9GFvZBJHZJjXkwxI_aem_1cWnm9A1_o0xB4MYkLcEpw"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ites.wustl.edu/oasisbrains/" TargetMode="External"/><Relationship Id="rId3" Type="http://schemas.openxmlformats.org/officeDocument/2006/relationships/hyperlink" Target="https://www.kaggle.com/datasets/jboysen/mri-and-alzheimers/data" TargetMode="External"/><Relationship Id="rId4" Type="http://schemas.openxmlformats.org/officeDocument/2006/relationships/hyperlink" Target="https://www.kaggle.com/datasets/ninadaithal/imagesoasi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1825f88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1825f88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u="sng">
                <a:solidFill>
                  <a:schemeClr val="hlink"/>
                </a:solidFill>
                <a:hlinkClick r:id="rId2"/>
              </a:rPr>
              <a:t>Machine Learning for Dementia Prediction: A Systematic Review and Future Research Directions | Journal of Medical Systems</a:t>
            </a:r>
            <a:endParaRPr/>
          </a:p>
          <a:p>
            <a:pPr indent="-298450" lvl="0" marL="457200" rtl="0" algn="l">
              <a:spcBef>
                <a:spcPts val="0"/>
              </a:spcBef>
              <a:spcAft>
                <a:spcPts val="0"/>
              </a:spcAft>
              <a:buSzPts val="1100"/>
              <a:buAutoNum type="arabicPeriod"/>
            </a:pPr>
            <a:r>
              <a:rPr lang="en" u="sng">
                <a:solidFill>
                  <a:schemeClr val="hlink"/>
                </a:solidFill>
                <a:hlinkClick r:id="rId3"/>
              </a:rPr>
              <a:t>Dementia Prediction Using Machine Learning - ScienceDirect</a:t>
            </a:r>
            <a:endParaRPr/>
          </a:p>
          <a:p>
            <a:pPr indent="-298450" lvl="0" marL="457200" rtl="0" algn="l">
              <a:spcBef>
                <a:spcPts val="0"/>
              </a:spcBef>
              <a:spcAft>
                <a:spcPts val="0"/>
              </a:spcAft>
              <a:buSzPts val="1100"/>
              <a:buAutoNum type="arabicPeriod"/>
            </a:pPr>
            <a:r>
              <a:rPr lang="en" u="sng">
                <a:solidFill>
                  <a:schemeClr val="hlink"/>
                </a:solidFill>
                <a:hlinkClick r:id="rId4"/>
              </a:rPr>
              <a:t>Hippocampus Segmentation-Based Alzheimer’s Disease Diagnosis and Classification of MRI Images | Arabian Journal for Science and Engineering</a:t>
            </a:r>
            <a:endParaRPr/>
          </a:p>
          <a:p>
            <a:pPr indent="-298450" lvl="0" marL="457200" rtl="0" algn="l">
              <a:spcBef>
                <a:spcPts val="0"/>
              </a:spcBef>
              <a:spcAft>
                <a:spcPts val="0"/>
              </a:spcAft>
              <a:buSzPts val="1100"/>
              <a:buAutoNum type="arabicPeriod"/>
            </a:pPr>
            <a:r>
              <a:rPr lang="en" u="sng">
                <a:solidFill>
                  <a:schemeClr val="hlink"/>
                </a:solidFill>
                <a:hlinkClick r:id="rId5"/>
              </a:rPr>
              <a:t>U-net based analysis of MRI for Alzheimer’s disease diagnosis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17fe2dca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17fe2dca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u="sng">
                <a:solidFill>
                  <a:schemeClr val="hlink"/>
                </a:solidFill>
                <a:hlinkClick r:id="rId2"/>
              </a:rPr>
              <a:t>https://sites.wustl.edu/oasisbrains/</a:t>
            </a:r>
            <a:endParaRPr/>
          </a:p>
          <a:p>
            <a:pPr indent="-298450" lvl="0" marL="457200" rtl="0" algn="l">
              <a:spcBef>
                <a:spcPts val="0"/>
              </a:spcBef>
              <a:spcAft>
                <a:spcPts val="0"/>
              </a:spcAft>
              <a:buSzPts val="1100"/>
              <a:buAutoNum type="arabicPeriod"/>
            </a:pPr>
            <a:r>
              <a:rPr lang="en" u="sng">
                <a:solidFill>
                  <a:schemeClr val="hlink"/>
                </a:solidFill>
                <a:hlinkClick r:id="rId3"/>
              </a:rPr>
              <a:t>https://www.kaggle.com/datasets/jboysen/mri-and-alzheimers/data</a:t>
            </a:r>
            <a:endParaRPr/>
          </a:p>
          <a:p>
            <a:pPr indent="-298450" lvl="0" marL="457200" rtl="0" algn="l">
              <a:spcBef>
                <a:spcPts val="0"/>
              </a:spcBef>
              <a:spcAft>
                <a:spcPts val="0"/>
              </a:spcAft>
              <a:buSzPts val="1100"/>
              <a:buAutoNum type="arabicPeriod"/>
            </a:pPr>
            <a:r>
              <a:rPr lang="en" u="sng">
                <a:solidFill>
                  <a:schemeClr val="hlink"/>
                </a:solidFill>
                <a:hlinkClick r:id="rId4"/>
              </a:rPr>
              <a:t>OASIS Alzheimer's Detection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11825f885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11825f885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Contracting path (Encoder) → convolutional layer for extracting features, pooling layer for downsampling</a:t>
            </a:r>
            <a:endParaRPr/>
          </a:p>
          <a:p>
            <a:pPr indent="-298450" lvl="0" marL="457200" rtl="0" algn="l">
              <a:spcBef>
                <a:spcPts val="0"/>
              </a:spcBef>
              <a:spcAft>
                <a:spcPts val="0"/>
              </a:spcAft>
              <a:buSzPts val="1100"/>
              <a:buAutoNum type="arabicPeriod"/>
            </a:pPr>
            <a:r>
              <a:rPr lang="en"/>
              <a:t>Expanding path (Decoder) → upsampling, skip connections with the encoder</a:t>
            </a:r>
            <a:endParaRPr/>
          </a:p>
          <a:p>
            <a:pPr indent="-298450" lvl="0" marL="457200" rtl="0" algn="l">
              <a:spcBef>
                <a:spcPts val="0"/>
              </a:spcBef>
              <a:spcAft>
                <a:spcPts val="0"/>
              </a:spcAft>
              <a:buSzPts val="1100"/>
              <a:buAutoNum type="arabicPeriod"/>
            </a:pPr>
            <a:r>
              <a:rPr lang="en"/>
              <a:t>Use of 1x1, 3x3, 5x5 filters/kernels at each convolutional layer instead of only 3x3 → capture features at various levels of granularity (pixel-level, spatial details, broader context)</a:t>
            </a:r>
            <a:endParaRPr/>
          </a:p>
          <a:p>
            <a:pPr indent="-298450" lvl="0" marL="457200" rtl="0" algn="l">
              <a:spcBef>
                <a:spcPts val="0"/>
              </a:spcBef>
              <a:spcAft>
                <a:spcPts val="0"/>
              </a:spcAft>
              <a:buSzPts val="1100"/>
              <a:buAutoNum type="arabicPeriod"/>
            </a:pPr>
            <a:r>
              <a:rPr lang="en"/>
              <a:t>67 deep layers compared to U-net’s original 23 layers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1825f885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1825f885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The </a:t>
            </a:r>
            <a:r>
              <a:rPr b="1" lang="en"/>
              <a:t>Dice Coefficient</a:t>
            </a:r>
            <a:r>
              <a:rPr lang="en"/>
              <a:t> is a measure of overlap between the predicted segmentation (output of the model) and the ground truth (the actual labeled data). 1 indicates perfect overlap between the prediction and the ground truth (ideal segmentation), 0 indicates no overlap at all.</a:t>
            </a:r>
            <a:endParaRPr/>
          </a:p>
          <a:p>
            <a:pPr indent="-298450" lvl="0" marL="457200" rtl="0" algn="l">
              <a:spcBef>
                <a:spcPts val="0"/>
              </a:spcBef>
              <a:spcAft>
                <a:spcPts val="0"/>
              </a:spcAft>
              <a:buSzPts val="1100"/>
              <a:buAutoNum type="arabicPeriod"/>
            </a:pPr>
            <a:r>
              <a:rPr lang="en"/>
              <a:t>The </a:t>
            </a:r>
            <a:r>
              <a:rPr b="1" lang="en"/>
              <a:t>Jaccard Index</a:t>
            </a:r>
            <a:r>
              <a:rPr lang="en"/>
              <a:t> (also known as the Intersection over Union, IoU) is another metric that measures the similarity between the predicted and actual segmentation regions. 1 indicates a perfect match between the predicted and actual regions, 0 indicates no overlap at all.</a:t>
            </a:r>
            <a:endParaRPr/>
          </a:p>
          <a:p>
            <a:pPr indent="-298450" lvl="0" marL="457200" rtl="0" algn="l">
              <a:spcBef>
                <a:spcPts val="0"/>
              </a:spcBef>
              <a:spcAft>
                <a:spcPts val="0"/>
              </a:spcAft>
              <a:buSzPts val="1100"/>
              <a:buAutoNum type="arabicPeriod"/>
            </a:pPr>
            <a:r>
              <a:rPr lang="en"/>
              <a:t>Avg performance → mean of all metrics</a:t>
            </a:r>
            <a:endParaRPr/>
          </a:p>
          <a:p>
            <a:pPr indent="-298450" lvl="0" marL="457200" rtl="0" algn="l">
              <a:spcBef>
                <a:spcPts val="0"/>
              </a:spcBef>
              <a:spcAft>
                <a:spcPts val="0"/>
              </a:spcAft>
              <a:buSzPts val="1100"/>
              <a:buAutoNum type="arabicPeriod"/>
            </a:pPr>
            <a:r>
              <a:rPr lang="en"/>
              <a:t>True positive (TP) returns the pixels which are segmented correctly. False positive (FP) returns the number of pixels segmented mistakenly. True negative (TN) returns the number of pixels ignored correctly. False Negative (FN) returns the number of pixels ignored falsely.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732400" y="856175"/>
            <a:ext cx="3866100" cy="228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580"/>
              <a:t>Alzheimer's induced Dementia Prediction from MRI Images using Image Segmentation</a:t>
            </a:r>
            <a:endParaRPr sz="3580"/>
          </a:p>
        </p:txBody>
      </p:sp>
      <p:sp>
        <p:nvSpPr>
          <p:cNvPr id="63" name="Google Shape;63;p13"/>
          <p:cNvSpPr txBox="1"/>
          <p:nvPr>
            <p:ph idx="1" type="subTitle"/>
          </p:nvPr>
        </p:nvSpPr>
        <p:spPr>
          <a:xfrm>
            <a:off x="2732400" y="3251124"/>
            <a:ext cx="3679200" cy="12219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en" sz="1800"/>
              <a:t>1905035 - Farhan Tahmidul Karim</a:t>
            </a:r>
            <a:endParaRPr sz="1800"/>
          </a:p>
          <a:p>
            <a:pPr indent="0" lvl="0" marL="0" rtl="0" algn="ctr">
              <a:lnSpc>
                <a:spcPct val="80000"/>
              </a:lnSpc>
              <a:spcBef>
                <a:spcPts val="0"/>
              </a:spcBef>
              <a:spcAft>
                <a:spcPts val="0"/>
              </a:spcAft>
              <a:buNone/>
            </a:pPr>
            <a:r>
              <a:rPr lang="en" sz="1800"/>
              <a:t>1905045 - Md. Ishrak Ahsan</a:t>
            </a:r>
            <a:br>
              <a:rPr lang="en" sz="1800"/>
            </a:br>
            <a:endParaRPr sz="1800"/>
          </a:p>
          <a:p>
            <a:pPr indent="0" lvl="0" marL="0" rtl="0" algn="ctr">
              <a:lnSpc>
                <a:spcPct val="80000"/>
              </a:lnSpc>
              <a:spcBef>
                <a:spcPts val="0"/>
              </a:spcBef>
              <a:spcAft>
                <a:spcPts val="0"/>
              </a:spcAft>
              <a:buNone/>
            </a:pPr>
            <a:r>
              <a:rPr lang="en" sz="1800"/>
              <a:t>Group ID: A2_4</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Problem Definition</a:t>
            </a:r>
            <a:endParaRPr/>
          </a:p>
        </p:txBody>
      </p:sp>
      <p:sp>
        <p:nvSpPr>
          <p:cNvPr id="69" name="Google Shape;69;p14"/>
          <p:cNvSpPr txBox="1"/>
          <p:nvPr>
            <p:ph idx="12" type="sldNum"/>
          </p:nvPr>
        </p:nvSpPr>
        <p:spPr>
          <a:xfrm>
            <a:off x="7883058" y="45967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 name="Google Shape;70;p14"/>
          <p:cNvSpPr/>
          <p:nvPr/>
        </p:nvSpPr>
        <p:spPr>
          <a:xfrm>
            <a:off x="1037775" y="1344600"/>
            <a:ext cx="3653700" cy="8313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Open Sans"/>
                <a:ea typeface="Open Sans"/>
                <a:cs typeface="Open Sans"/>
                <a:sym typeface="Open Sans"/>
              </a:rPr>
              <a:t>Progressive neurological disorder</a:t>
            </a:r>
            <a:r>
              <a:rPr lang="en">
                <a:latin typeface="Open Sans"/>
                <a:ea typeface="Open Sans"/>
                <a:cs typeface="Open Sans"/>
                <a:sym typeface="Open Sans"/>
              </a:rPr>
              <a:t>, affecting thinking, memory, behavior and ability to work</a:t>
            </a:r>
            <a:endParaRPr>
              <a:latin typeface="Open Sans"/>
              <a:ea typeface="Open Sans"/>
              <a:cs typeface="Open Sans"/>
              <a:sym typeface="Open Sans"/>
            </a:endParaRPr>
          </a:p>
        </p:txBody>
      </p:sp>
      <p:sp>
        <p:nvSpPr>
          <p:cNvPr id="71" name="Google Shape;71;p14"/>
          <p:cNvSpPr/>
          <p:nvPr/>
        </p:nvSpPr>
        <p:spPr>
          <a:xfrm>
            <a:off x="4842575" y="1344600"/>
            <a:ext cx="2748000" cy="8313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Open Sans"/>
                <a:ea typeface="Open Sans"/>
                <a:cs typeface="Open Sans"/>
                <a:sym typeface="Open Sans"/>
              </a:rPr>
              <a:t>EARLY DIAGNOSIS</a:t>
            </a:r>
            <a:r>
              <a:rPr lang="en">
                <a:latin typeface="Open Sans"/>
                <a:ea typeface="Open Sans"/>
                <a:cs typeface="Open Sans"/>
                <a:sym typeface="Open Sans"/>
              </a:rPr>
              <a:t> </a:t>
            </a:r>
            <a:br>
              <a:rPr lang="en">
                <a:latin typeface="Open Sans"/>
                <a:ea typeface="Open Sans"/>
                <a:cs typeface="Open Sans"/>
                <a:sym typeface="Open Sans"/>
              </a:rPr>
            </a:br>
            <a:r>
              <a:rPr lang="en">
                <a:latin typeface="Open Sans"/>
                <a:ea typeface="Open Sans"/>
                <a:cs typeface="Open Sans"/>
                <a:sym typeface="Open Sans"/>
              </a:rPr>
              <a:t>!!</a:t>
            </a:r>
            <a:endParaRPr>
              <a:latin typeface="Open Sans"/>
              <a:ea typeface="Open Sans"/>
              <a:cs typeface="Open Sans"/>
              <a:sym typeface="Open Sans"/>
            </a:endParaRPr>
          </a:p>
        </p:txBody>
      </p:sp>
      <p:sp>
        <p:nvSpPr>
          <p:cNvPr id="72" name="Google Shape;72;p14"/>
          <p:cNvSpPr/>
          <p:nvPr/>
        </p:nvSpPr>
        <p:spPr>
          <a:xfrm>
            <a:off x="7238175" y="663925"/>
            <a:ext cx="714600" cy="483300"/>
          </a:xfrm>
          <a:prstGeom prst="wedgeRoundRectCallout">
            <a:avLst>
              <a:gd fmla="val -19014" name="adj1"/>
              <a:gd fmla="val 79154" name="adj2"/>
              <a:gd fmla="val 0" name="adj3"/>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But how? </a:t>
            </a:r>
            <a:endParaRPr>
              <a:latin typeface="Open Sans"/>
              <a:ea typeface="Open Sans"/>
              <a:cs typeface="Open Sans"/>
              <a:sym typeface="Open Sans"/>
            </a:endParaRPr>
          </a:p>
        </p:txBody>
      </p:sp>
      <p:sp>
        <p:nvSpPr>
          <p:cNvPr id="73" name="Google Shape;73;p14"/>
          <p:cNvSpPr/>
          <p:nvPr/>
        </p:nvSpPr>
        <p:spPr>
          <a:xfrm>
            <a:off x="311700" y="2297025"/>
            <a:ext cx="2748000" cy="10770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Open Sans"/>
                <a:ea typeface="Open Sans"/>
                <a:cs typeface="Open Sans"/>
                <a:sym typeface="Open Sans"/>
              </a:rPr>
              <a:t>MRI imaging</a:t>
            </a:r>
            <a:r>
              <a:rPr lang="en">
                <a:latin typeface="Open Sans"/>
                <a:ea typeface="Open Sans"/>
                <a:cs typeface="Open Sans"/>
                <a:sym typeface="Open Sans"/>
              </a:rPr>
              <a:t> gives visualization of brain structures allowing </a:t>
            </a:r>
            <a:r>
              <a:rPr b="1" lang="en">
                <a:latin typeface="Open Sans"/>
                <a:ea typeface="Open Sans"/>
                <a:cs typeface="Open Sans"/>
                <a:sym typeface="Open Sans"/>
              </a:rPr>
              <a:t>analysis</a:t>
            </a:r>
            <a:r>
              <a:rPr b="1" lang="en">
                <a:latin typeface="Open Sans"/>
                <a:ea typeface="Open Sans"/>
                <a:cs typeface="Open Sans"/>
                <a:sym typeface="Open Sans"/>
              </a:rPr>
              <a:t> of atrophy pattern</a:t>
            </a:r>
            <a:endParaRPr b="1">
              <a:latin typeface="Open Sans"/>
              <a:ea typeface="Open Sans"/>
              <a:cs typeface="Open Sans"/>
              <a:sym typeface="Open Sans"/>
            </a:endParaRPr>
          </a:p>
        </p:txBody>
      </p:sp>
      <p:sp>
        <p:nvSpPr>
          <p:cNvPr id="74" name="Google Shape;74;p14"/>
          <p:cNvSpPr/>
          <p:nvPr/>
        </p:nvSpPr>
        <p:spPr>
          <a:xfrm>
            <a:off x="3206975" y="2297025"/>
            <a:ext cx="2748000" cy="10770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focusing on </a:t>
            </a:r>
            <a:r>
              <a:rPr b="1" lang="en">
                <a:latin typeface="Open Sans"/>
                <a:ea typeface="Open Sans"/>
                <a:cs typeface="Open Sans"/>
                <a:sym typeface="Open Sans"/>
              </a:rPr>
              <a:t>specific brain regions</a:t>
            </a:r>
            <a:r>
              <a:rPr lang="en">
                <a:latin typeface="Open Sans"/>
                <a:ea typeface="Open Sans"/>
                <a:cs typeface="Open Sans"/>
                <a:sym typeface="Open Sans"/>
              </a:rPr>
              <a:t> affected early, like the </a:t>
            </a:r>
            <a:r>
              <a:rPr b="1" lang="en">
                <a:latin typeface="Open Sans"/>
                <a:ea typeface="Open Sans"/>
                <a:cs typeface="Open Sans"/>
                <a:sym typeface="Open Sans"/>
              </a:rPr>
              <a:t>hippocampus</a:t>
            </a:r>
            <a:r>
              <a:rPr lang="en">
                <a:latin typeface="Open Sans"/>
                <a:ea typeface="Open Sans"/>
                <a:cs typeface="Open Sans"/>
                <a:sym typeface="Open Sans"/>
              </a:rPr>
              <a:t>, can give clues</a:t>
            </a:r>
            <a:endParaRPr>
              <a:latin typeface="Open Sans"/>
              <a:ea typeface="Open Sans"/>
              <a:cs typeface="Open Sans"/>
              <a:sym typeface="Open Sans"/>
            </a:endParaRPr>
          </a:p>
        </p:txBody>
      </p:sp>
      <p:sp>
        <p:nvSpPr>
          <p:cNvPr id="75" name="Google Shape;75;p14"/>
          <p:cNvSpPr/>
          <p:nvPr/>
        </p:nvSpPr>
        <p:spPr>
          <a:xfrm>
            <a:off x="6102250" y="2297025"/>
            <a:ext cx="2615400" cy="10770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Open Sans"/>
                <a:ea typeface="Open Sans"/>
                <a:cs typeface="Open Sans"/>
                <a:sym typeface="Open Sans"/>
              </a:rPr>
              <a:t>Image segmentation </a:t>
            </a:r>
            <a:r>
              <a:rPr lang="en">
                <a:latin typeface="Open Sans"/>
                <a:ea typeface="Open Sans"/>
                <a:cs typeface="Open Sans"/>
                <a:sym typeface="Open Sans"/>
              </a:rPr>
              <a:t>isolates regions of interest</a:t>
            </a:r>
            <a:r>
              <a:rPr b="1" lang="en">
                <a:latin typeface="Open Sans"/>
                <a:ea typeface="Open Sans"/>
                <a:cs typeface="Open Sans"/>
                <a:sym typeface="Open Sans"/>
              </a:rPr>
              <a:t> </a:t>
            </a:r>
            <a:r>
              <a:rPr lang="en">
                <a:latin typeface="Open Sans"/>
                <a:ea typeface="Open Sans"/>
                <a:cs typeface="Open Sans"/>
                <a:sym typeface="Open Sans"/>
              </a:rPr>
              <a:t>in MRI scans, facilitating the quantitative analysis </a:t>
            </a:r>
            <a:endParaRPr>
              <a:latin typeface="Open Sans"/>
              <a:ea typeface="Open Sans"/>
              <a:cs typeface="Open Sans"/>
              <a:sym typeface="Open Sans"/>
            </a:endParaRPr>
          </a:p>
        </p:txBody>
      </p:sp>
      <p:sp>
        <p:nvSpPr>
          <p:cNvPr id="76" name="Google Shape;76;p14"/>
          <p:cNvSpPr/>
          <p:nvPr/>
        </p:nvSpPr>
        <p:spPr>
          <a:xfrm>
            <a:off x="2990475" y="2679525"/>
            <a:ext cx="312000" cy="312000"/>
          </a:xfrm>
          <a:prstGeom prst="rightArrow">
            <a:avLst>
              <a:gd fmla="val 50000" name="adj1"/>
              <a:gd fmla="val 500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 name="Google Shape;77;p14"/>
          <p:cNvSpPr/>
          <p:nvPr/>
        </p:nvSpPr>
        <p:spPr>
          <a:xfrm>
            <a:off x="5910900" y="2679525"/>
            <a:ext cx="312000" cy="312000"/>
          </a:xfrm>
          <a:prstGeom prst="rightArrow">
            <a:avLst>
              <a:gd fmla="val 50000" name="adj1"/>
              <a:gd fmla="val 500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 name="Google Shape;78;p14"/>
          <p:cNvSpPr/>
          <p:nvPr/>
        </p:nvSpPr>
        <p:spPr>
          <a:xfrm>
            <a:off x="86025" y="3495250"/>
            <a:ext cx="1620600" cy="13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Image data driven ML models &gt; Clinical and voice data [1]</a:t>
            </a:r>
            <a:endParaRPr>
              <a:latin typeface="Open Sans"/>
              <a:ea typeface="Open Sans"/>
              <a:cs typeface="Open Sans"/>
              <a:sym typeface="Open Sans"/>
            </a:endParaRPr>
          </a:p>
        </p:txBody>
      </p:sp>
      <p:sp>
        <p:nvSpPr>
          <p:cNvPr id="79" name="Google Shape;79;p14"/>
          <p:cNvSpPr/>
          <p:nvPr/>
        </p:nvSpPr>
        <p:spPr>
          <a:xfrm>
            <a:off x="1746775" y="3495250"/>
            <a:ext cx="2033400" cy="13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Hippocampus Segmentation-Based diagnosis and classification of MRI Images is effective [3]</a:t>
            </a:r>
            <a:endParaRPr>
              <a:latin typeface="Open Sans"/>
              <a:ea typeface="Open Sans"/>
              <a:cs typeface="Open Sans"/>
              <a:sym typeface="Open Sans"/>
            </a:endParaRPr>
          </a:p>
        </p:txBody>
      </p:sp>
      <p:sp>
        <p:nvSpPr>
          <p:cNvPr id="80" name="Google Shape;80;p14"/>
          <p:cNvSpPr/>
          <p:nvPr/>
        </p:nvSpPr>
        <p:spPr>
          <a:xfrm>
            <a:off x="3820325" y="3495250"/>
            <a:ext cx="2677500" cy="13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U-net style model for AD diagnosis using 3D T1-weighted MRI pays more attention to hippocampus, cortex regions etc. [4]</a:t>
            </a:r>
            <a:endParaRPr>
              <a:latin typeface="Open Sans"/>
              <a:ea typeface="Open Sans"/>
              <a:cs typeface="Open Sans"/>
              <a:sym typeface="Open Sans"/>
            </a:endParaRPr>
          </a:p>
        </p:txBody>
      </p:sp>
      <p:sp>
        <p:nvSpPr>
          <p:cNvPr id="81" name="Google Shape;81;p14"/>
          <p:cNvSpPr/>
          <p:nvPr/>
        </p:nvSpPr>
        <p:spPr>
          <a:xfrm>
            <a:off x="6537975" y="3495150"/>
            <a:ext cx="2520000" cy="130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U-Net Convolutional Network based approach for hippocampus segmentation from 2D brain images segment hippocampus with an average performance rate of 93.6% [5]</a:t>
            </a:r>
            <a:endParaRPr>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Available Dataset</a:t>
            </a:r>
            <a:endParaRPr/>
          </a:p>
        </p:txBody>
      </p:sp>
      <p:sp>
        <p:nvSpPr>
          <p:cNvPr id="87" name="Google Shape;87;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OASIS Project:</a:t>
            </a:r>
            <a:r>
              <a:rPr lang="en"/>
              <a:t> The Open Access Series of Imaging Studies (OASIS) is a project aimed at making MRI data sets of the brain freely available to the scientific community. </a:t>
            </a:r>
            <a:r>
              <a:rPr baseline="30000" lang="en"/>
              <a:t>[1][2]</a:t>
            </a:r>
            <a:endParaRPr baseline="30000"/>
          </a:p>
          <a:p>
            <a:pPr indent="-342900" lvl="0" marL="457200" rtl="0" algn="l">
              <a:spcBef>
                <a:spcPts val="0"/>
              </a:spcBef>
              <a:spcAft>
                <a:spcPts val="0"/>
              </a:spcAft>
              <a:buSzPts val="1800"/>
              <a:buChar char="●"/>
            </a:pPr>
            <a:r>
              <a:rPr b="1" lang="en"/>
              <a:t>OASIS Alzheimer's Detection:</a:t>
            </a:r>
            <a:r>
              <a:rPr lang="en"/>
              <a:t> OASIS MRI dataset consists of </a:t>
            </a:r>
            <a:r>
              <a:rPr b="1" lang="en"/>
              <a:t>80,000 brain MRI images</a:t>
            </a:r>
            <a:r>
              <a:rPr lang="en"/>
              <a:t>. The images have been divided into </a:t>
            </a:r>
            <a:r>
              <a:rPr b="1" lang="en"/>
              <a:t>four classes </a:t>
            </a:r>
            <a:r>
              <a:rPr lang="en"/>
              <a:t>(Non/very mild/mild/moderate dementia) based on Alzheimer's progression. The dataset aims to provide a valuable resource for analyzing and detecting early signs of Alzheimer's disease. </a:t>
            </a:r>
            <a:r>
              <a:rPr baseline="30000" lang="en"/>
              <a:t>[3]</a:t>
            </a:r>
            <a:endParaRPr baseline="30000"/>
          </a:p>
        </p:txBody>
      </p:sp>
      <p:sp>
        <p:nvSpPr>
          <p:cNvPr id="88" name="Google Shape;8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311700" y="89775"/>
            <a:ext cx="8520600" cy="564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Solution Architecture Using U-Net Model</a:t>
            </a:r>
            <a:endParaRPr/>
          </a:p>
        </p:txBody>
      </p:sp>
      <p:sp>
        <p:nvSpPr>
          <p:cNvPr id="94" name="Google Shape;94;p16"/>
          <p:cNvSpPr txBox="1"/>
          <p:nvPr>
            <p:ph idx="1" type="body"/>
          </p:nvPr>
        </p:nvSpPr>
        <p:spPr>
          <a:xfrm>
            <a:off x="4842550" y="564300"/>
            <a:ext cx="3989700" cy="437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100">
                <a:latin typeface="Economica"/>
                <a:ea typeface="Economica"/>
                <a:cs typeface="Economica"/>
                <a:sym typeface="Economica"/>
              </a:rPr>
              <a:t>Our proposed improvements</a:t>
            </a:r>
            <a:endParaRPr b="1" sz="3100">
              <a:latin typeface="Economica"/>
              <a:ea typeface="Economica"/>
              <a:cs typeface="Economica"/>
              <a:sym typeface="Economica"/>
            </a:endParaRPr>
          </a:p>
          <a:p>
            <a:pPr indent="-342900" lvl="0" marL="457200" rtl="0" algn="l">
              <a:spcBef>
                <a:spcPts val="1200"/>
              </a:spcBef>
              <a:spcAft>
                <a:spcPts val="0"/>
              </a:spcAft>
              <a:buSzPts val="1800"/>
              <a:buChar char="●"/>
            </a:pPr>
            <a:r>
              <a:rPr lang="en"/>
              <a:t>A</a:t>
            </a:r>
            <a:r>
              <a:rPr lang="en"/>
              <a:t>ttention gates in skip connections</a:t>
            </a:r>
            <a:endParaRPr/>
          </a:p>
          <a:p>
            <a:pPr indent="-317500" lvl="1" marL="914400" rtl="0" algn="l">
              <a:spcBef>
                <a:spcPts val="0"/>
              </a:spcBef>
              <a:spcAft>
                <a:spcPts val="0"/>
              </a:spcAft>
              <a:buSzPts val="1400"/>
              <a:buChar char="○"/>
            </a:pPr>
            <a:r>
              <a:rPr lang="en"/>
              <a:t>Improved focus</a:t>
            </a:r>
            <a:endParaRPr/>
          </a:p>
          <a:p>
            <a:pPr indent="-317500" lvl="1" marL="914400" rtl="0" algn="l">
              <a:spcBef>
                <a:spcPts val="0"/>
              </a:spcBef>
              <a:spcAft>
                <a:spcPts val="0"/>
              </a:spcAft>
              <a:buSzPts val="1400"/>
              <a:buChar char="○"/>
            </a:pPr>
            <a:r>
              <a:rPr lang="en"/>
              <a:t>Reduced noise</a:t>
            </a:r>
            <a:endParaRPr/>
          </a:p>
          <a:p>
            <a:pPr indent="-342900" lvl="0" marL="457200" rtl="0" algn="l">
              <a:spcBef>
                <a:spcPts val="0"/>
              </a:spcBef>
              <a:spcAft>
                <a:spcPts val="0"/>
              </a:spcAft>
              <a:buSzPts val="1800"/>
              <a:buChar char="●"/>
            </a:pPr>
            <a:r>
              <a:rPr lang="en"/>
              <a:t>Hybrid architecture for encoder</a:t>
            </a:r>
            <a:endParaRPr/>
          </a:p>
          <a:p>
            <a:pPr indent="-317500" lvl="1" marL="914400" rtl="0" algn="l">
              <a:spcBef>
                <a:spcPts val="0"/>
              </a:spcBef>
              <a:spcAft>
                <a:spcPts val="0"/>
              </a:spcAft>
              <a:buSzPts val="1400"/>
              <a:buChar char="○"/>
            </a:pPr>
            <a:r>
              <a:rPr lang="en"/>
              <a:t>ResNet</a:t>
            </a:r>
            <a:endParaRPr/>
          </a:p>
          <a:p>
            <a:pPr indent="-317500" lvl="1" marL="914400" rtl="0" algn="l">
              <a:spcBef>
                <a:spcPts val="0"/>
              </a:spcBef>
              <a:spcAft>
                <a:spcPts val="0"/>
              </a:spcAft>
              <a:buSzPts val="1400"/>
              <a:buChar char="○"/>
            </a:pPr>
            <a:r>
              <a:rPr lang="en"/>
              <a:t>DenseNet</a:t>
            </a:r>
            <a:endParaRPr/>
          </a:p>
          <a:p>
            <a:pPr indent="-317500" lvl="1" marL="914400" rtl="0" algn="l">
              <a:spcBef>
                <a:spcPts val="0"/>
              </a:spcBef>
              <a:spcAft>
                <a:spcPts val="0"/>
              </a:spcAft>
              <a:buSzPts val="1400"/>
              <a:buChar char="○"/>
            </a:pPr>
            <a:r>
              <a:rPr lang="en"/>
              <a:t>Enhanced feature extraction</a:t>
            </a:r>
            <a:endParaRPr/>
          </a:p>
          <a:p>
            <a:pPr indent="-317500" lvl="1" marL="914400" rtl="0" algn="l">
              <a:spcBef>
                <a:spcPts val="0"/>
              </a:spcBef>
              <a:spcAft>
                <a:spcPts val="0"/>
              </a:spcAft>
              <a:buSzPts val="1400"/>
              <a:buChar char="○"/>
            </a:pPr>
            <a:r>
              <a:rPr lang="en"/>
              <a:t>Capturing high feature sensitivity</a:t>
            </a:r>
            <a:endParaRPr/>
          </a:p>
          <a:p>
            <a:pPr indent="-342900" lvl="0" marL="457200" rtl="0" algn="l">
              <a:spcBef>
                <a:spcPts val="0"/>
              </a:spcBef>
              <a:spcAft>
                <a:spcPts val="0"/>
              </a:spcAft>
              <a:buSzPts val="1800"/>
              <a:buChar char="●"/>
            </a:pPr>
            <a:r>
              <a:rPr lang="en"/>
              <a:t>Tweaking kernel size and sequence</a:t>
            </a:r>
            <a:endParaRPr/>
          </a:p>
        </p:txBody>
      </p:sp>
      <p:sp>
        <p:nvSpPr>
          <p:cNvPr id="95" name="Google Shape;9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6" name="Google Shape;96;p16"/>
          <p:cNvPicPr preferRelativeResize="0"/>
          <p:nvPr/>
        </p:nvPicPr>
        <p:blipFill>
          <a:blip r:embed="rId3">
            <a:alphaModFix/>
          </a:blip>
          <a:stretch>
            <a:fillRect/>
          </a:stretch>
        </p:blipFill>
        <p:spPr>
          <a:xfrm>
            <a:off x="311700" y="564300"/>
            <a:ext cx="4293475" cy="44287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Performance Metrics</a:t>
            </a:r>
            <a:endParaRPr/>
          </a:p>
        </p:txBody>
      </p:sp>
      <p:sp>
        <p:nvSpPr>
          <p:cNvPr id="102" name="Google Shape;102;p17"/>
          <p:cNvSpPr txBox="1"/>
          <p:nvPr>
            <p:ph idx="1" type="body"/>
          </p:nvPr>
        </p:nvSpPr>
        <p:spPr>
          <a:xfrm>
            <a:off x="311700" y="2726675"/>
            <a:ext cx="8520600" cy="2211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DIC</a:t>
            </a:r>
            <a:r>
              <a:rPr lang="en"/>
              <a:t> = 2 * ∣A ∩ B∣ / (|A| + |B|) = </a:t>
            </a:r>
            <a:r>
              <a:rPr lang="en">
                <a:solidFill>
                  <a:srgbClr val="1155CC"/>
                </a:solidFill>
              </a:rPr>
              <a:t>2 * TP / (2 * TP + FP + FN)</a:t>
            </a:r>
            <a:endParaRPr>
              <a:solidFill>
                <a:srgbClr val="1155CC"/>
              </a:solidFill>
            </a:endParaRPr>
          </a:p>
          <a:p>
            <a:pPr indent="-342900" lvl="0" marL="457200" rtl="0" algn="l">
              <a:spcBef>
                <a:spcPts val="0"/>
              </a:spcBef>
              <a:spcAft>
                <a:spcPts val="0"/>
              </a:spcAft>
              <a:buSzPts val="1800"/>
              <a:buChar char="●"/>
            </a:pPr>
            <a:r>
              <a:rPr b="1" lang="en"/>
              <a:t>JI</a:t>
            </a:r>
            <a:r>
              <a:rPr lang="en"/>
              <a:t> = ∣A ∩ B∣ / ∣A ∪ B∣ = </a:t>
            </a:r>
            <a:r>
              <a:rPr lang="en">
                <a:solidFill>
                  <a:srgbClr val="1155CC"/>
                </a:solidFill>
              </a:rPr>
              <a:t>DIC / (2 - DIC)</a:t>
            </a:r>
            <a:endParaRPr>
              <a:solidFill>
                <a:srgbClr val="1155CC"/>
              </a:solidFill>
            </a:endParaRPr>
          </a:p>
          <a:p>
            <a:pPr indent="0" lvl="0" marL="0" rtl="0" algn="l">
              <a:spcBef>
                <a:spcPts val="1200"/>
              </a:spcBef>
              <a:spcAft>
                <a:spcPts val="0"/>
              </a:spcAft>
              <a:buClr>
                <a:schemeClr val="dk1"/>
              </a:buClr>
              <a:buSzPts val="1100"/>
              <a:buFont typeface="Arial"/>
              <a:buNone/>
            </a:pPr>
            <a:r>
              <a:rPr lang="en"/>
              <a: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4" name="Google Shape;104;p17"/>
          <p:cNvPicPr preferRelativeResize="0"/>
          <p:nvPr/>
        </p:nvPicPr>
        <p:blipFill>
          <a:blip r:embed="rId3">
            <a:alphaModFix/>
          </a:blip>
          <a:stretch>
            <a:fillRect/>
          </a:stretch>
        </p:blipFill>
        <p:spPr>
          <a:xfrm>
            <a:off x="0" y="1225216"/>
            <a:ext cx="9143999" cy="129691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